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E1E45F-8DBB-4692-A470-C9EEA5DFCA9F}" v="2" dt="2026-05-18T15:30:26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76" autoAdjust="0"/>
    <p:restoredTop sz="94660"/>
  </p:normalViewPr>
  <p:slideViewPr>
    <p:cSldViewPr snapToGrid="0">
      <p:cViewPr varScale="1">
        <p:scale>
          <a:sx n="84" d="100"/>
          <a:sy n="84" d="100"/>
        </p:scale>
        <p:origin x="8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itr Bhardwaj" userId="0c7337000ee8e7b5" providerId="LiveId" clId="{148437E3-9194-4F1E-8AF9-A63A59A98CB7}"/>
    <pc:docChg chg="undo custSel modSld">
      <pc:chgData name="Pavitr Bhardwaj" userId="0c7337000ee8e7b5" providerId="LiveId" clId="{148437E3-9194-4F1E-8AF9-A63A59A98CB7}" dt="2026-05-18T15:32:24.219" v="34" actId="14734"/>
      <pc:docMkLst>
        <pc:docMk/>
      </pc:docMkLst>
      <pc:sldChg chg="addSp delSp modSp mod">
        <pc:chgData name="Pavitr Bhardwaj" userId="0c7337000ee8e7b5" providerId="LiveId" clId="{148437E3-9194-4F1E-8AF9-A63A59A98CB7}" dt="2026-05-18T15:30:56.433" v="10" actId="1076"/>
        <pc:sldMkLst>
          <pc:docMk/>
          <pc:sldMk cId="0" sldId="257"/>
        </pc:sldMkLst>
        <pc:spChg chg="del mod">
          <ac:chgData name="Pavitr Bhardwaj" userId="0c7337000ee8e7b5" providerId="LiveId" clId="{148437E3-9194-4F1E-8AF9-A63A59A98CB7}" dt="2026-05-18T15:30:34.313" v="2" actId="478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Pavitr Bhardwaj" userId="0c7337000ee8e7b5" providerId="LiveId" clId="{148437E3-9194-4F1E-8AF9-A63A59A98CB7}" dt="2026-05-18T15:30:56.433" v="10" actId="1076"/>
          <ac:spMkLst>
            <pc:docMk/>
            <pc:sldMk cId="0" sldId="257"/>
            <ac:spMk id="5" creationId="{8A18B329-D4F3-6029-475F-888846C99B17}"/>
          </ac:spMkLst>
        </pc:spChg>
      </pc:sldChg>
      <pc:sldChg chg="modSp mod">
        <pc:chgData name="Pavitr Bhardwaj" userId="0c7337000ee8e7b5" providerId="LiveId" clId="{148437E3-9194-4F1E-8AF9-A63A59A98CB7}" dt="2026-05-18T15:32:24.219" v="34" actId="14734"/>
        <pc:sldMkLst>
          <pc:docMk/>
          <pc:sldMk cId="0" sldId="262"/>
        </pc:sldMkLst>
        <pc:graphicFrameChg chg="modGraphic">
          <ac:chgData name="Pavitr Bhardwaj" userId="0c7337000ee8e7b5" providerId="LiveId" clId="{148437E3-9194-4F1E-8AF9-A63A59A98CB7}" dt="2026-05-18T15:32:24.219" v="34" actId="14734"/>
          <ac:graphicFrameMkLst>
            <pc:docMk/>
            <pc:sldMk cId="0" sldId="262"/>
            <ac:graphicFrameMk id="4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986B-4C33-4B8A-98F9-2EF8BBE5CAD5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A899-D64F-4B1B-9F3F-40504E053B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986B-4C33-4B8A-98F9-2EF8BBE5CAD5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A899-D64F-4B1B-9F3F-40504E053B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986B-4C33-4B8A-98F9-2EF8BBE5CAD5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A899-D64F-4B1B-9F3F-40504E053B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986B-4C33-4B8A-98F9-2EF8BBE5CAD5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A899-D64F-4B1B-9F3F-40504E053B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986B-4C33-4B8A-98F9-2EF8BBE5CAD5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A899-D64F-4B1B-9F3F-40504E053B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986B-4C33-4B8A-98F9-2EF8BBE5CAD5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A899-D64F-4B1B-9F3F-40504E053B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986B-4C33-4B8A-98F9-2EF8BBE5CAD5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A899-D64F-4B1B-9F3F-40504E053B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986B-4C33-4B8A-98F9-2EF8BBE5CAD5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A899-D64F-4B1B-9F3F-40504E053B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986B-4C33-4B8A-98F9-2EF8BBE5CAD5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A899-D64F-4B1B-9F3F-40504E053B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986B-4C33-4B8A-98F9-2EF8BBE5CAD5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A899-D64F-4B1B-9F3F-40504E053B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986B-4C33-4B8A-98F9-2EF8BBE5CAD5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A899-D64F-4B1B-9F3F-40504E053B4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0986B-4C33-4B8A-98F9-2EF8BBE5CAD5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EA899-D64F-4B1B-9F3F-40504E053B4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79031" y="368968"/>
            <a:ext cx="72831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/>
              <a:t>Sales Performance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6885" y="1796716"/>
            <a:ext cx="108925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This report summarizes overall sales performance, profitability, customer activity, and operational patterns from the uploaded retail dataset.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-4605" y="2930720"/>
            <a:ext cx="2971076" cy="2085474"/>
            <a:chOff x="121930" y="4009189"/>
            <a:chExt cx="2971076" cy="2085474"/>
          </a:xfrm>
        </p:grpSpPr>
        <p:grpSp>
          <p:nvGrpSpPr>
            <p:cNvPr id="14" name="Group 13"/>
            <p:cNvGrpSpPr/>
            <p:nvPr/>
          </p:nvGrpSpPr>
          <p:grpSpPr>
            <a:xfrm>
              <a:off x="121930" y="4009189"/>
              <a:ext cx="2920028" cy="2085474"/>
              <a:chOff x="1507958" y="3577389"/>
              <a:chExt cx="3649579" cy="2085474"/>
            </a:xfrm>
          </p:grpSpPr>
          <p:sp>
            <p:nvSpPr>
              <p:cNvPr id="6" name="Rectangle: Rounded Corners 5"/>
              <p:cNvSpPr/>
              <p:nvPr/>
            </p:nvSpPr>
            <p:spPr>
              <a:xfrm>
                <a:off x="1507958" y="3577389"/>
                <a:ext cx="3497179" cy="2085474"/>
              </a:xfrm>
              <a:prstGeom prst="roundRect">
                <a:avLst/>
              </a:prstGeom>
              <a:solidFill>
                <a:schemeClr val="accent5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" name="Rectangle: Rounded Corners 6"/>
              <p:cNvSpPr/>
              <p:nvPr/>
            </p:nvSpPr>
            <p:spPr>
              <a:xfrm>
                <a:off x="1660358" y="3577389"/>
                <a:ext cx="3497179" cy="2085474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400" b="1" dirty="0">
                    <a:solidFill>
                      <a:schemeClr val="tx1"/>
                    </a:solidFill>
                  </a:rPr>
                  <a:t>$2,297,201.07</a:t>
                </a:r>
              </a:p>
            </p:txBody>
          </p:sp>
        </p:grpSp>
        <p:sp>
          <p:nvSpPr>
            <p:cNvPr id="24" name="TextBox 23"/>
            <p:cNvSpPr txBox="1"/>
            <p:nvPr/>
          </p:nvSpPr>
          <p:spPr>
            <a:xfrm>
              <a:off x="565706" y="4179632"/>
              <a:ext cx="25273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>
                  <a:solidFill>
                    <a:schemeClr val="bg1">
                      <a:lumMod val="50000"/>
                    </a:schemeClr>
                  </a:solidFill>
                </a:rPr>
                <a:t>Total Sales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997623" y="4218184"/>
            <a:ext cx="2723664" cy="2085474"/>
            <a:chOff x="3720318" y="4107178"/>
            <a:chExt cx="2723664" cy="2085474"/>
          </a:xfrm>
        </p:grpSpPr>
        <p:grpSp>
          <p:nvGrpSpPr>
            <p:cNvPr id="18" name="Group 17"/>
            <p:cNvGrpSpPr/>
            <p:nvPr/>
          </p:nvGrpSpPr>
          <p:grpSpPr>
            <a:xfrm>
              <a:off x="3720318" y="4107178"/>
              <a:ext cx="2723664" cy="2085474"/>
              <a:chOff x="1507958" y="3577389"/>
              <a:chExt cx="3649579" cy="2085474"/>
            </a:xfrm>
          </p:grpSpPr>
          <p:sp>
            <p:nvSpPr>
              <p:cNvPr id="19" name="Rectangle: Rounded Corners 18"/>
              <p:cNvSpPr/>
              <p:nvPr/>
            </p:nvSpPr>
            <p:spPr>
              <a:xfrm>
                <a:off x="1507958" y="3577389"/>
                <a:ext cx="3497179" cy="2085474"/>
              </a:xfrm>
              <a:prstGeom prst="roundRect">
                <a:avLst/>
              </a:prstGeom>
              <a:solidFill>
                <a:schemeClr val="accent5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" name="Rectangle: Rounded Corners 19"/>
              <p:cNvSpPr/>
              <p:nvPr/>
            </p:nvSpPr>
            <p:spPr>
              <a:xfrm>
                <a:off x="1660358" y="3577389"/>
                <a:ext cx="3497179" cy="2085474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400" b="1" dirty="0">
                    <a:solidFill>
                      <a:schemeClr val="tx1"/>
                    </a:solidFill>
                  </a:rPr>
                  <a:t>$286,397.79</a:t>
                </a:r>
              </a:p>
            </p:txBody>
          </p:sp>
        </p:grpSp>
        <p:sp>
          <p:nvSpPr>
            <p:cNvPr id="25" name="TextBox 24"/>
            <p:cNvSpPr txBox="1"/>
            <p:nvPr/>
          </p:nvSpPr>
          <p:spPr>
            <a:xfrm>
              <a:off x="3916681" y="4240899"/>
              <a:ext cx="25273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>
                  <a:solidFill>
                    <a:schemeClr val="bg1">
                      <a:lumMod val="50000"/>
                    </a:schemeClr>
                  </a:solidFill>
                </a:rPr>
                <a:t>Total Profit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5795822" y="2728096"/>
            <a:ext cx="2693096" cy="2085474"/>
            <a:chOff x="7197829" y="4107178"/>
            <a:chExt cx="2693096" cy="2085474"/>
          </a:xfrm>
        </p:grpSpPr>
        <p:grpSp>
          <p:nvGrpSpPr>
            <p:cNvPr id="21" name="Group 20"/>
            <p:cNvGrpSpPr/>
            <p:nvPr/>
          </p:nvGrpSpPr>
          <p:grpSpPr>
            <a:xfrm>
              <a:off x="7197829" y="4107178"/>
              <a:ext cx="2382252" cy="2085474"/>
              <a:chOff x="1507958" y="3577389"/>
              <a:chExt cx="3649579" cy="2085474"/>
            </a:xfrm>
          </p:grpSpPr>
          <p:sp>
            <p:nvSpPr>
              <p:cNvPr id="22" name="Rectangle: Rounded Corners 21"/>
              <p:cNvSpPr/>
              <p:nvPr/>
            </p:nvSpPr>
            <p:spPr>
              <a:xfrm>
                <a:off x="1507958" y="3577389"/>
                <a:ext cx="3497179" cy="2085474"/>
              </a:xfrm>
              <a:prstGeom prst="roundRect">
                <a:avLst/>
              </a:prstGeom>
              <a:solidFill>
                <a:schemeClr val="accent5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" name="Rectangle: Rounded Corners 22"/>
              <p:cNvSpPr/>
              <p:nvPr/>
            </p:nvSpPr>
            <p:spPr>
              <a:xfrm>
                <a:off x="1660359" y="3577389"/>
                <a:ext cx="3497178" cy="2085474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b="1" dirty="0"/>
              </a:p>
              <a:p>
                <a:pPr algn="ctr"/>
                <a:endParaRPr lang="en-IN" b="1" dirty="0"/>
              </a:p>
              <a:p>
                <a:pPr algn="ctr"/>
                <a:r>
                  <a:rPr lang="en-IN" sz="2400" b="1" dirty="0">
                    <a:solidFill>
                      <a:schemeClr val="tx1"/>
                    </a:solidFill>
                  </a:rPr>
                  <a:t>5009</a:t>
                </a:r>
              </a:p>
              <a:p>
                <a:br>
                  <a:rPr lang="en-IN" dirty="0"/>
                </a:br>
                <a:endParaRPr lang="en-IN" dirty="0"/>
              </a:p>
            </p:txBody>
          </p:sp>
        </p:grpSp>
        <p:sp>
          <p:nvSpPr>
            <p:cNvPr id="26" name="TextBox 25"/>
            <p:cNvSpPr txBox="1"/>
            <p:nvPr/>
          </p:nvSpPr>
          <p:spPr>
            <a:xfrm>
              <a:off x="7363625" y="4374621"/>
              <a:ext cx="25273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>
                  <a:solidFill>
                    <a:schemeClr val="bg1">
                      <a:lumMod val="50000"/>
                    </a:schemeClr>
                  </a:solidFill>
                </a:rPr>
                <a:t>Total Orders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10040745" y="2750823"/>
            <a:ext cx="2315573" cy="2085474"/>
            <a:chOff x="9699472" y="4107178"/>
            <a:chExt cx="2315573" cy="2085474"/>
          </a:xfrm>
        </p:grpSpPr>
        <p:grpSp>
          <p:nvGrpSpPr>
            <p:cNvPr id="15" name="Group 14"/>
            <p:cNvGrpSpPr/>
            <p:nvPr/>
          </p:nvGrpSpPr>
          <p:grpSpPr>
            <a:xfrm>
              <a:off x="9699472" y="4107178"/>
              <a:ext cx="1784932" cy="2085474"/>
              <a:chOff x="1507958" y="3577389"/>
              <a:chExt cx="3649579" cy="2085474"/>
            </a:xfrm>
          </p:grpSpPr>
          <p:sp>
            <p:nvSpPr>
              <p:cNvPr id="16" name="Rectangle: Rounded Corners 15"/>
              <p:cNvSpPr/>
              <p:nvPr/>
            </p:nvSpPr>
            <p:spPr>
              <a:xfrm>
                <a:off x="1507958" y="3577389"/>
                <a:ext cx="3497179" cy="2085474"/>
              </a:xfrm>
              <a:prstGeom prst="roundRect">
                <a:avLst/>
              </a:prstGeom>
              <a:solidFill>
                <a:schemeClr val="accent5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" name="Rectangle: Rounded Corners 16"/>
              <p:cNvSpPr/>
              <p:nvPr/>
            </p:nvSpPr>
            <p:spPr>
              <a:xfrm>
                <a:off x="1660358" y="3577389"/>
                <a:ext cx="3497179" cy="2085474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400" b="1" dirty="0">
                    <a:solidFill>
                      <a:schemeClr val="tx1"/>
                    </a:solidFill>
                  </a:rPr>
                  <a:t>793</a:t>
                </a:r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10010316" y="4194628"/>
              <a:ext cx="200472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>
                  <a:solidFill>
                    <a:schemeClr val="bg1">
                      <a:lumMod val="50000"/>
                    </a:schemeClr>
                  </a:solidFill>
                </a:rPr>
                <a:t>Total Customers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8078595" y="4858468"/>
            <a:ext cx="2187973" cy="1912492"/>
            <a:chOff x="8771021" y="1887983"/>
            <a:chExt cx="2382252" cy="2085474"/>
          </a:xfrm>
        </p:grpSpPr>
        <p:grpSp>
          <p:nvGrpSpPr>
            <p:cNvPr id="28" name="Group 27"/>
            <p:cNvGrpSpPr/>
            <p:nvPr/>
          </p:nvGrpSpPr>
          <p:grpSpPr>
            <a:xfrm>
              <a:off x="8771021" y="1887983"/>
              <a:ext cx="2382252" cy="2085474"/>
              <a:chOff x="1507958" y="3577389"/>
              <a:chExt cx="3649579" cy="2085474"/>
            </a:xfrm>
          </p:grpSpPr>
          <p:sp>
            <p:nvSpPr>
              <p:cNvPr id="29" name="Rectangle: Rounded Corners 28"/>
              <p:cNvSpPr/>
              <p:nvPr/>
            </p:nvSpPr>
            <p:spPr>
              <a:xfrm>
                <a:off x="1507958" y="3577389"/>
                <a:ext cx="3497179" cy="2085474"/>
              </a:xfrm>
              <a:prstGeom prst="roundRect">
                <a:avLst/>
              </a:prstGeom>
              <a:solidFill>
                <a:schemeClr val="accent5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" name="Rectangle: Rounded Corners 29"/>
              <p:cNvSpPr/>
              <p:nvPr/>
            </p:nvSpPr>
            <p:spPr>
              <a:xfrm>
                <a:off x="1660358" y="3577389"/>
                <a:ext cx="3497179" cy="2085474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400" b="1" dirty="0">
                    <a:solidFill>
                      <a:schemeClr val="tx1"/>
                    </a:solidFill>
                  </a:rPr>
                  <a:t>15.62%</a:t>
                </a:r>
              </a:p>
            </p:txBody>
          </p:sp>
        </p:grpSp>
        <p:sp>
          <p:nvSpPr>
            <p:cNvPr id="31" name="TextBox 30"/>
            <p:cNvSpPr txBox="1"/>
            <p:nvPr/>
          </p:nvSpPr>
          <p:spPr>
            <a:xfrm>
              <a:off x="8978673" y="2042926"/>
              <a:ext cx="20134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bg1">
                      <a:lumMod val="50000"/>
                    </a:schemeClr>
                  </a:solidFill>
                </a:rPr>
                <a:t>Average Discount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5700" y="368300"/>
            <a:ext cx="5232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Executive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18B329-D4F3-6029-475F-888846C99B17}"/>
              </a:ext>
            </a:extLst>
          </p:cNvPr>
          <p:cNvSpPr txBox="1"/>
          <p:nvPr/>
        </p:nvSpPr>
        <p:spPr>
          <a:xfrm>
            <a:off x="761746" y="1657064"/>
            <a:ext cx="818159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/>
              <a:t>The business generated </a:t>
            </a:r>
            <a:r>
              <a:rPr lang="en-US" sz="3200" b="1" dirty="0"/>
              <a:t>$2,297,201.07</a:t>
            </a:r>
            <a:r>
              <a:rPr lang="en-US" sz="3200" dirty="0"/>
              <a:t> in sales</a:t>
            </a:r>
            <a:r>
              <a:rPr lang="en-IN" altLang="en-US" sz="3200" dirty="0"/>
              <a:t> </a:t>
            </a:r>
            <a:r>
              <a:rPr lang="en-US" sz="3200" dirty="0"/>
              <a:t>and </a:t>
            </a:r>
            <a:r>
              <a:rPr lang="en-US" sz="3200" b="1" dirty="0"/>
              <a:t>$286,397.79</a:t>
            </a:r>
            <a:r>
              <a:rPr lang="en-US" sz="3200" dirty="0"/>
              <a:t> in profit across </a:t>
            </a:r>
            <a:r>
              <a:rPr lang="en-US" sz="3200" b="1" dirty="0"/>
              <a:t>5009</a:t>
            </a:r>
            <a:r>
              <a:rPr lang="en-US" sz="3200" dirty="0"/>
              <a:t> orders. The most profitable category was </a:t>
            </a:r>
            <a:r>
              <a:rPr lang="en-US" sz="3200" b="1" dirty="0"/>
              <a:t>Technology</a:t>
            </a:r>
            <a:r>
              <a:rPr lang="en-US" sz="3200" dirty="0"/>
              <a:t>, the strongest region by profit was </a:t>
            </a:r>
            <a:r>
              <a:rPr lang="en-US" sz="3200" b="1" dirty="0"/>
              <a:t>West</a:t>
            </a:r>
            <a:r>
              <a:rPr lang="en-US" sz="3200" dirty="0"/>
              <a:t>, and the weakest sub-category was </a:t>
            </a:r>
            <a:r>
              <a:rPr lang="en-US" sz="3200" b="1" dirty="0"/>
              <a:t>Tables</a:t>
            </a:r>
            <a:r>
              <a:rPr lang="en-US" sz="3200" dirty="0"/>
              <a:t>. The state with the lowest overall profit was </a:t>
            </a:r>
            <a:r>
              <a:rPr lang="en-US" sz="3200" b="1" dirty="0"/>
              <a:t>Texas</a:t>
            </a:r>
            <a:r>
              <a:rPr lang="en-US" sz="3200" dirty="0"/>
              <a:t>.</a:t>
            </a:r>
            <a:endParaRPr lang="en-US" sz="32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03600" y="368300"/>
            <a:ext cx="5816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Category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98500" y="1727201"/>
          <a:ext cx="9601200" cy="4762499"/>
        </p:xfrm>
        <a:graphic>
          <a:graphicData uri="http://schemas.openxmlformats.org/drawingml/2006/table">
            <a:tbl>
              <a:tblPr/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84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b="1" dirty="0">
                          <a:effectLst/>
                        </a:rPr>
                        <a:t>Category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b="1" dirty="0">
                          <a:effectLst/>
                        </a:rPr>
                        <a:t>Sales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b="1">
                          <a:effectLst/>
                        </a:rPr>
                        <a:t>Profit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b="1">
                          <a:effectLst/>
                        </a:rPr>
                        <a:t>Quantity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84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b="1" dirty="0">
                          <a:effectLst/>
                        </a:rPr>
                        <a:t>Furniture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b="1" dirty="0">
                          <a:effectLst/>
                        </a:rPr>
                        <a:t>741999.98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b="1">
                          <a:effectLst/>
                        </a:rPr>
                        <a:t>18451.25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b="1">
                          <a:effectLst/>
                        </a:rPr>
                        <a:t>8028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1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b="1">
                          <a:effectLst/>
                        </a:rPr>
                        <a:t>Office Supplies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b="1" dirty="0">
                          <a:effectLst/>
                        </a:rPr>
                        <a:t>719046.99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b="1" dirty="0">
                          <a:effectLst/>
                        </a:rPr>
                        <a:t>122490.88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b="1" dirty="0">
                          <a:effectLst/>
                        </a:rPr>
                        <a:t>22906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84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b="1">
                          <a:effectLst/>
                        </a:rPr>
                        <a:t>Technology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b="1">
                          <a:effectLst/>
                        </a:rPr>
                        <a:t>836154.1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b="1">
                          <a:effectLst/>
                        </a:rPr>
                        <a:t>145455.66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600" b="1" dirty="0">
                          <a:effectLst/>
                        </a:rPr>
                        <a:t>6939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03600" y="368300"/>
            <a:ext cx="5816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/>
              <a:t>Regional Performance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65200" y="1993900"/>
          <a:ext cx="8001000" cy="360680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13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 dirty="0">
                          <a:effectLst/>
                        </a:rPr>
                        <a:t>Region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>
                          <a:effectLst/>
                        </a:rPr>
                        <a:t>Sales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>
                          <a:effectLst/>
                        </a:rPr>
                        <a:t>Profit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13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>
                          <a:effectLst/>
                        </a:rPr>
                        <a:t>West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>
                          <a:effectLst/>
                        </a:rPr>
                        <a:t>725457.93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>
                          <a:effectLst/>
                        </a:rPr>
                        <a:t>108418.79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3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>
                          <a:effectLst/>
                        </a:rPr>
                        <a:t>East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>
                          <a:effectLst/>
                        </a:rPr>
                        <a:t>678781.36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>
                          <a:effectLst/>
                        </a:rPr>
                        <a:t>91522.84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13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 dirty="0">
                          <a:effectLst/>
                        </a:rPr>
                        <a:t>Central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>
                          <a:effectLst/>
                        </a:rPr>
                        <a:t>501239.88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>
                          <a:effectLst/>
                        </a:rPr>
                        <a:t>39706.45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3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>
                          <a:effectLst/>
                        </a:rPr>
                        <a:t>South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>
                          <a:effectLst/>
                        </a:rPr>
                        <a:t>391721.9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 dirty="0">
                          <a:effectLst/>
                        </a:rPr>
                        <a:t>46749.71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27400" y="190500"/>
            <a:ext cx="6362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Segment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0400" y="1676400"/>
          <a:ext cx="7147032" cy="3733800"/>
        </p:xfrm>
        <a:graphic>
          <a:graphicData uri="http://schemas.openxmlformats.org/drawingml/2006/table">
            <a:tbl>
              <a:tblPr/>
              <a:tblGrid>
                <a:gridCol w="1338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4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4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3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Segment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Sales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Profit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</a:rPr>
                        <a:t>Consumer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1161401.34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134119.33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Corporate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706146.4400000001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91979.45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Home Office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429653.29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</a:rPr>
                        <a:t>60299.01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92400" y="3048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/>
              <a:t>Shipping Mode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97001" y="1930400"/>
          <a:ext cx="9004299" cy="4000500"/>
        </p:xfrm>
        <a:graphic>
          <a:graphicData uri="http://schemas.openxmlformats.org/drawingml/2006/table">
            <a:tbl>
              <a:tblPr/>
              <a:tblGrid>
                <a:gridCol w="3001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1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14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Ship Mode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Sales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Profit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Standard Class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1358216.08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164089.45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</a:rPr>
                        <a:t>Second Class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459193.44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57446.49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First Class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351428.43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48969.95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Same Day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128363.12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</a:rPr>
                        <a:t>15891.9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9800" y="241300"/>
            <a:ext cx="5486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Top 10 States by Sales</a:t>
            </a:r>
            <a:endParaRPr lang="en-IN" sz="4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492988"/>
              </p:ext>
            </p:extLst>
          </p:nvPr>
        </p:nvGraphicFramePr>
        <p:xfrm>
          <a:off x="1066800" y="1660527"/>
          <a:ext cx="8559801" cy="4365072"/>
        </p:xfrm>
        <a:graphic>
          <a:graphicData uri="http://schemas.openxmlformats.org/drawingml/2006/table">
            <a:tbl>
              <a:tblPr/>
              <a:tblGrid>
                <a:gridCol w="2853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3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3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6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State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Sales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Profit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6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California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457687.68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76381.6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6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New York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310876.2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74038.64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6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Texas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effectLst/>
                        </a:rPr>
                        <a:t>170187.98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-25729.29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7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effectLst/>
                        </a:rPr>
                        <a:t>Washington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138641.29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33402.7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8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effectLst/>
                        </a:rPr>
                        <a:t>Pennsylvania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effectLst/>
                        </a:rPr>
                        <a:t>116512.02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effectLst/>
                        </a:rPr>
                        <a:t>-15560.039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6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Florida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89473.73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-3399.25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6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Illinois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80166.16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effectLst/>
                        </a:rPr>
                        <a:t>-12607.89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6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Ohio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78258.21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-16971.37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770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Michigan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76269.61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effectLst/>
                        </a:rPr>
                        <a:t>24463.148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6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Virginia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effectLst/>
                        </a:rPr>
                        <a:t>70636.72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effectLst/>
                        </a:rPr>
                        <a:t>18598.0</a:t>
                      </a:r>
                    </a:p>
                  </a:txBody>
                  <a:tcPr marL="51192" marR="51192" marT="51192" marB="5119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6281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3600" b="1" i="0" dirty="0">
                <a:effectLst/>
                <a:latin typeface="Arial" panose="020B0604020202020204" pitchFamily="34" charset="0"/>
              </a:rPr>
              <a:t>Top Products by Sales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3700" y="1444625"/>
          <a:ext cx="10972800" cy="5248277"/>
        </p:xfrm>
        <a:graphic>
          <a:graphicData uri="http://schemas.openxmlformats.org/drawingml/2006/table">
            <a:tbl>
              <a:tblPr/>
              <a:tblGrid>
                <a:gridCol w="567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54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 dirty="0">
                          <a:effectLst/>
                        </a:rPr>
                        <a:t>Product Name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>
                          <a:effectLst/>
                        </a:rPr>
                        <a:t>Sales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 dirty="0">
                          <a:effectLst/>
                        </a:rPr>
                        <a:t>Profit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1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effectLst/>
                        </a:rPr>
                        <a:t>Canon imageCLASS 2200 Advanced Copier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>
                          <a:effectLst/>
                        </a:rPr>
                        <a:t>61599.83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>
                          <a:effectLst/>
                        </a:rPr>
                        <a:t>25199.94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77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effectLst/>
                        </a:rPr>
                        <a:t>Fellowes PB500 Electric Punch Plastic Comb Binding Machine with Manual Bind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>
                          <a:effectLst/>
                        </a:rPr>
                        <a:t>27453.38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>
                          <a:effectLst/>
                        </a:rPr>
                        <a:t>7753.0599999999995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4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 dirty="0">
                          <a:effectLst/>
                        </a:rPr>
                        <a:t>Cisco </a:t>
                      </a:r>
                      <a:r>
                        <a:rPr lang="en-IN" sz="1400" b="0" dirty="0" err="1">
                          <a:effectLst/>
                        </a:rPr>
                        <a:t>TelePresence</a:t>
                      </a:r>
                      <a:r>
                        <a:rPr lang="en-IN" sz="1400" b="0" dirty="0">
                          <a:effectLst/>
                        </a:rPr>
                        <a:t> System EX90 Videoconferencing Unit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 dirty="0">
                          <a:effectLst/>
                        </a:rPr>
                        <a:t>22638.48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>
                          <a:effectLst/>
                        </a:rPr>
                        <a:t>-1811.08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1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effectLst/>
                        </a:rPr>
                        <a:t>HON 5400 Series Task Chairs for Big and Tall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>
                          <a:effectLst/>
                        </a:rPr>
                        <a:t>21870.57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>
                          <a:effectLst/>
                        </a:rPr>
                        <a:t>0.0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1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effectLst/>
                        </a:rPr>
                        <a:t>GBC </a:t>
                      </a:r>
                      <a:r>
                        <a:rPr lang="en-US" sz="1400" b="0" dirty="0" err="1">
                          <a:effectLst/>
                        </a:rPr>
                        <a:t>DocuBind</a:t>
                      </a:r>
                      <a:r>
                        <a:rPr lang="en-US" sz="1400" b="0" dirty="0">
                          <a:effectLst/>
                        </a:rPr>
                        <a:t> TL300 Electric Binding System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>
                          <a:effectLst/>
                        </a:rPr>
                        <a:t>19823.48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>
                          <a:effectLst/>
                        </a:rPr>
                        <a:t>2233.5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4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sv-SE" sz="1400" b="0">
                          <a:effectLst/>
                        </a:rPr>
                        <a:t>GBC Ibimaster 500 Manual ProClick Binding System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>
                          <a:effectLst/>
                        </a:rPr>
                        <a:t>19024.5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>
                          <a:effectLst/>
                        </a:rPr>
                        <a:t>760.9799999999996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1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 dirty="0">
                          <a:effectLst/>
                        </a:rPr>
                        <a:t>Hewlett Packard LaserJet 3310 Copier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>
                          <a:effectLst/>
                        </a:rPr>
                        <a:t>18839.68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>
                          <a:effectLst/>
                        </a:rPr>
                        <a:t>6983.89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04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400" b="0">
                          <a:effectLst/>
                        </a:rPr>
                        <a:t>HP Designjet T520 Inkjet Large Format Printer - 24" Color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>
                          <a:effectLst/>
                        </a:rPr>
                        <a:t>18374.9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>
                          <a:effectLst/>
                        </a:rPr>
                        <a:t>4094.9799999999996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1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effectLst/>
                        </a:rPr>
                        <a:t>GBC DocuBind P400 Electric Binding System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>
                          <a:effectLst/>
                        </a:rPr>
                        <a:t>17965.07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>
                          <a:effectLst/>
                        </a:rPr>
                        <a:t>-1878.17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1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effectLst/>
                        </a:rPr>
                        <a:t>High Speed Automatic Electric Letter Opener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>
                          <a:effectLst/>
                        </a:rPr>
                        <a:t>17030.309999999998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0" dirty="0">
                          <a:effectLst/>
                        </a:rPr>
                        <a:t>-262.0</a:t>
                      </a:r>
                    </a:p>
                  </a:txBody>
                  <a:tcPr marL="14456" marR="14456" marT="14456" marB="14456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24200" y="304800"/>
            <a:ext cx="6134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/>
              <a:t>Lowest Profit Products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4114" y="1825624"/>
          <a:ext cx="11503886" cy="4906414"/>
        </p:xfrm>
        <a:graphic>
          <a:graphicData uri="http://schemas.openxmlformats.org/drawingml/2006/table">
            <a:tbl>
              <a:tblPr/>
              <a:tblGrid>
                <a:gridCol w="5966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67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>
                          <a:effectLst/>
                        </a:rPr>
                        <a:t>Product Name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Profit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Sales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8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Cubify CubeX 3D Printer Double Head Print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-8879.97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11099.96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8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>
                          <a:effectLst/>
                        </a:rPr>
                        <a:t>Lexmark MX611dhe Monochrome Laser Printer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-4589.97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16829.9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8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 err="1">
                          <a:effectLst/>
                        </a:rPr>
                        <a:t>Cubify</a:t>
                      </a:r>
                      <a:r>
                        <a:rPr lang="en-US" sz="1200" b="1" dirty="0">
                          <a:effectLst/>
                        </a:rPr>
                        <a:t> </a:t>
                      </a:r>
                      <a:r>
                        <a:rPr lang="en-US" sz="1200" b="1" dirty="0" err="1">
                          <a:effectLst/>
                        </a:rPr>
                        <a:t>CubeX</a:t>
                      </a:r>
                      <a:r>
                        <a:rPr lang="en-US" sz="1200" b="1" dirty="0">
                          <a:effectLst/>
                        </a:rPr>
                        <a:t> 3D Printer Triple Head Print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-3839.99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7999.98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2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Chromcraft Bull-Nose Wood Oval Conference Tables &amp; Bases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>
                          <a:effectLst/>
                        </a:rPr>
                        <a:t>-2876.109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9917.64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2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Bush Advantage Collection Racetrack Conference Table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-1934.4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>
                          <a:effectLst/>
                        </a:rPr>
                        <a:t>9544.720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2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GBC </a:t>
                      </a:r>
                      <a:r>
                        <a:rPr lang="en-US" sz="1200" b="1" dirty="0" err="1">
                          <a:effectLst/>
                        </a:rPr>
                        <a:t>DocuBind</a:t>
                      </a:r>
                      <a:r>
                        <a:rPr lang="en-US" sz="1200" b="1" dirty="0">
                          <a:effectLst/>
                        </a:rPr>
                        <a:t> P400 Electric Binding System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-1878.17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17965.07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2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Cisco TelePresence System EX90 Videoconferencing Unit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>
                          <a:effectLst/>
                        </a:rPr>
                        <a:t>-1811.08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22638.48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22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Martin Yale Chadless Opener Electric Letter Opener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-1299.19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16656.21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4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Balt Solid Wood Round Tables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-1201.06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6518.76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450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BoxOffice By Design Rectangular and Half-Moon Meeting Room Tables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>
                          <a:effectLst/>
                        </a:rPr>
                        <a:t>-1148.44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>
                          <a:effectLst/>
                        </a:rPr>
                        <a:t>1706.26</a:t>
                      </a:r>
                    </a:p>
                  </a:txBody>
                  <a:tcPr marL="15135" marR="15135" marT="15135" marB="15135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417</Words>
  <Application>Microsoft Office PowerPoint</Application>
  <PresentationFormat>Widescreen</PresentationFormat>
  <Paragraphs>181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Pavitr Bhardwaj</dc:creator>
  <cp:lastModifiedBy>Pavitr Bhardwaj</cp:lastModifiedBy>
  <cp:revision>2</cp:revision>
  <dcterms:created xsi:type="dcterms:W3CDTF">2026-05-18T09:02:00Z</dcterms:created>
  <dcterms:modified xsi:type="dcterms:W3CDTF">2026-05-18T15:32:30Z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6D40B707BD884E0DB775B9BF48979969_12</vt:lpwstr>
  </property>
  <property fmtid="{D5CDD505-2E9C-101B-9397-08002B2CF9AE}" pid="3" name="KSOProductBuildVer">
    <vt:lpwstr>1033-12.1.0.26372</vt:lpwstr>
  </property>
</Properties>
</file>